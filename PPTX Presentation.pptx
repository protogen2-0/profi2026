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57"/>
        <p:guide pos="2148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5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5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>
        <a:lnSpc>
          <a:spcPct val="90000"/>
        </a:lnSpc>
        <a:spcBef>
          <a:spcPts val="749"/>
        </a:spcBef>
        <a:buFont typeface="Liberation Sans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>
        <a:lnSpc>
          <a:spcPct val="90000"/>
        </a:lnSpc>
        <a:spcBef>
          <a:spcPts val="374"/>
        </a:spcBef>
        <a:buFont typeface="Liberation Sans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>
        <a:lnSpc>
          <a:spcPct val="90000"/>
        </a:lnSpc>
        <a:spcBef>
          <a:spcPts val="374"/>
        </a:spcBef>
        <a:buFont typeface="Liberation Sans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>
        <a:lnSpc>
          <a:spcPct val="90000"/>
        </a:lnSpc>
        <a:spcBef>
          <a:spcPts val="374"/>
        </a:spcBef>
        <a:buFont typeface="Liberation Sans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>
        <a:lnSpc>
          <a:spcPct val="90000"/>
        </a:lnSpc>
        <a:spcBef>
          <a:spcPts val="374"/>
        </a:spcBef>
        <a:buFont typeface="Liberation Sans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>
        <a:lnSpc>
          <a:spcPct val="90000"/>
        </a:lnSpc>
        <a:spcBef>
          <a:spcPts val="374"/>
        </a:spcBef>
        <a:buFont typeface="Liberation Sans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>
        <a:lnSpc>
          <a:spcPct val="90000"/>
        </a:lnSpc>
        <a:spcBef>
          <a:spcPts val="374"/>
        </a:spcBef>
        <a:buFont typeface="Liberation Sans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>
        <a:lnSpc>
          <a:spcPct val="90000"/>
        </a:lnSpc>
        <a:spcBef>
          <a:spcPts val="374"/>
        </a:spcBef>
        <a:buFont typeface="Liberation Sans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>
        <a:lnSpc>
          <a:spcPct val="90000"/>
        </a:lnSpc>
        <a:spcBef>
          <a:spcPts val="374"/>
        </a:spcBef>
        <a:buFont typeface="Liberation Sans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rgbClr val="9C98D6"/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601283" y="2152948"/>
            <a:ext cx="7339849" cy="216185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ru-RU" sz="3600"/>
              <a:t>Децентрализованная автономная организация (</a:t>
            </a:r>
            <a:r>
              <a:rPr lang="ru-RU" sz="3600"/>
              <a:t>D</a:t>
            </a:r>
            <a:r>
              <a:rPr lang="ru-RU" sz="3600"/>
              <a:t>A</a:t>
            </a:r>
            <a:r>
              <a:rPr lang="ru-RU" sz="3600"/>
              <a:t>O</a:t>
            </a:r>
            <a:r>
              <a:rPr lang="ru-RU" sz="3600"/>
              <a:t>)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6431529" y="6201630"/>
            <a:ext cx="6720745" cy="720079"/>
          </a:xfrm>
        </p:spPr>
        <p:txBody>
          <a:bodyPr/>
          <a:lstStyle/>
          <a:p>
            <a:pPr>
              <a:defRPr/>
            </a:pPr>
            <a:r>
              <a:rPr lang="ru-RU" sz="2800"/>
              <a:t>Пушкин Андрей Павлович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rgbClr val="9C98D6"/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15859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T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ехническое задание проекта</a:t>
            </a:r>
            <a:endParaRPr sz="3600">
              <a:solidFill>
                <a:schemeClr val="tx1"/>
              </a:solidFill>
            </a:endParaRPr>
          </a:p>
        </p:txBody>
      </p:sp>
      <p:sp>
        <p:nvSpPr>
          <p:cNvPr id="1922664756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>
              <a:buFont typeface="Liberation Sans"/>
              <a:buNone/>
              <a:defRPr/>
            </a:pPr>
            <a:endParaRPr sz="2800"/>
          </a:p>
          <a:p>
            <a:pPr marL="0" indent="0">
              <a:buFont typeface="Liberation Sans"/>
              <a:buNone/>
              <a:defRPr/>
            </a:pPr>
            <a:endParaRPr sz="2800"/>
          </a:p>
          <a:p>
            <a:pPr marL="0" indent="0">
              <a:buFont typeface="Liberation Sans"/>
              <a:buNone/>
              <a:defRPr/>
            </a:pPr>
            <a:r>
              <a:rPr lang="ru-RU" sz="2800"/>
              <a:t>Реализовать систему голосования</a:t>
            </a:r>
            <a:r>
              <a:rPr lang="ru-RU" sz="2800"/>
              <a:t>,</a:t>
            </a:r>
            <a:r>
              <a:rPr lang="ru-RU" sz="2800"/>
              <a:t> где голоса</a:t>
            </a:r>
            <a:r>
              <a:rPr lang="ru-RU" sz="2800"/>
              <a:t> учитываются в токенах</a:t>
            </a:r>
            <a:endParaRPr sz="2800"/>
          </a:p>
          <a:p>
            <a:pPr marL="0" indent="0">
              <a:buFont typeface="Liberation Sans"/>
              <a:buNone/>
              <a:defRPr/>
            </a:pPr>
            <a:endParaRPr sz="2800"/>
          </a:p>
          <a:p>
            <a:pPr marL="0" indent="0">
              <a:buFont typeface="Liberation Sans"/>
              <a:buNone/>
              <a:defRPr/>
            </a:pPr>
            <a:endParaRPr sz="2800"/>
          </a:p>
          <a:p>
            <a:pPr marL="0" indent="0">
              <a:buFont typeface="Liberation Sans"/>
              <a:buNone/>
              <a:defRPr/>
            </a:pPr>
            <a:r>
              <a:rPr lang="ru-RU" sz="2800"/>
              <a:t>Сделать пользовательский интерфейс для удобного пользования системой</a:t>
            </a:r>
            <a:endParaRPr sz="2800"/>
          </a:p>
          <a:p>
            <a:pPr marL="0" indent="0">
              <a:buFont typeface="Liberation Sans"/>
              <a:buNone/>
              <a:defRPr/>
            </a:pPr>
            <a:endParaRPr sz="2800"/>
          </a:p>
          <a:p>
            <a:pPr marL="0" indent="0">
              <a:buFont typeface="Liberation Sans"/>
              <a:buNone/>
              <a:defRPr/>
            </a:pPr>
            <a:endParaRPr sz="2800"/>
          </a:p>
          <a:p>
            <a:pPr marL="0" indent="0">
              <a:buFont typeface="Liberation Sans"/>
              <a:buNone/>
              <a:defRPr/>
            </a:pPr>
            <a:r>
              <a:rPr lang="ru-RU" sz="2800"/>
              <a:t>Провести тестирование функционала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rgbClr val="9C98D6"/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71157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Планирование всех задач проекта</a:t>
            </a:r>
            <a:endParaRPr sz="3600">
              <a:solidFill>
                <a:schemeClr val="tx1"/>
              </a:solidFill>
            </a:endParaRPr>
          </a:p>
        </p:txBody>
      </p:sp>
      <p:pic>
        <p:nvPicPr>
          <p:cNvPr id="1574137850" name=""/>
          <p:cNvPicPr>
            <a:picLocks noChangeAspect="1"/>
          </p:cNvPicPr>
          <p:nvPr/>
        </p:nvPicPr>
        <p:blipFill>
          <a:blip r:embed="rId2"/>
          <a:srcRect l="266" t="0" r="0" b="0"/>
          <a:stretch/>
        </p:blipFill>
        <p:spPr bwMode="auto">
          <a:xfrm flipH="0" flipV="0">
            <a:off x="1165023" y="2115648"/>
            <a:ext cx="9888327" cy="3595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rgbClr val="9C98D6"/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413893" name="Заголовок 1"/>
          <p:cNvSpPr>
            <a:spLocks noGrp="1"/>
          </p:cNvSpPr>
          <p:nvPr>
            <p:ph type="title"/>
          </p:nvPr>
        </p:nvSpPr>
        <p:spPr bwMode="auto">
          <a:xfrm>
            <a:off x="534153" y="274637"/>
            <a:ext cx="10972800" cy="1143000"/>
          </a:xfrm>
        </p:spPr>
        <p:txBody>
          <a:bodyPr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Архитектура проекта</a:t>
            </a:r>
            <a:endParaRPr sz="3600" b="0" i="0" u="none" strike="noStrike" cap="none" spc="0">
              <a:solidFill>
                <a:schemeClr val="tx1"/>
              </a:solidFill>
              <a:latin typeface="Liberation Sans"/>
              <a:cs typeface="Liberation Sans"/>
            </a:endParaRPr>
          </a:p>
        </p:txBody>
      </p:sp>
      <p:sp>
        <p:nvSpPr>
          <p:cNvPr id="1302043942" name=""/>
          <p:cNvSpPr txBox="1"/>
          <p:nvPr/>
        </p:nvSpPr>
        <p:spPr bwMode="auto">
          <a:xfrm rot="0" flipH="0" flipV="0">
            <a:off x="3926137" y="3225315"/>
            <a:ext cx="92925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чтение</a:t>
            </a:r>
            <a:endParaRPr/>
          </a:p>
        </p:txBody>
      </p:sp>
      <p:sp>
        <p:nvSpPr>
          <p:cNvPr id="1347298734" name=""/>
          <p:cNvSpPr txBox="1"/>
          <p:nvPr/>
        </p:nvSpPr>
        <p:spPr bwMode="auto">
          <a:xfrm rot="0" flipH="0" flipV="0">
            <a:off x="3794612" y="4327673"/>
            <a:ext cx="166306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транзакция </a:t>
            </a:r>
            <a:endParaRPr lang="ru-RU"/>
          </a:p>
          <a:p>
            <a:pPr>
              <a:defRPr/>
            </a:pPr>
            <a:r>
              <a:rPr lang="ru-RU"/>
              <a:t>/ чтение </a:t>
            </a:r>
            <a:endParaRPr/>
          </a:p>
        </p:txBody>
      </p:sp>
      <p:sp>
        <p:nvSpPr>
          <p:cNvPr id="1435588490" name=""/>
          <p:cNvSpPr/>
          <p:nvPr/>
        </p:nvSpPr>
        <p:spPr bwMode="auto">
          <a:xfrm flipH="0" flipV="0">
            <a:off x="1167681" y="1961724"/>
            <a:ext cx="2328660" cy="8299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ctr">
              <a:defRPr/>
            </a:pPr>
            <a:endParaRPr lang="en-US"/>
          </a:p>
          <a:p>
            <a:pPr algn="ctr">
              <a:defRPr/>
            </a:pPr>
            <a:r>
              <a:rPr lang="en-US">
                <a:solidFill>
                  <a:schemeClr val="tx1"/>
                </a:solidFill>
              </a:rPr>
              <a:t>Client</a:t>
            </a:r>
            <a:endParaRPr lang="en-US"/>
          </a:p>
          <a:p>
            <a:pPr algn="ctr">
              <a:defRPr/>
            </a:pPr>
            <a:endParaRPr lang="en-US"/>
          </a:p>
        </p:txBody>
      </p:sp>
      <p:sp>
        <p:nvSpPr>
          <p:cNvPr id="1018226771" name=""/>
          <p:cNvSpPr/>
          <p:nvPr/>
        </p:nvSpPr>
        <p:spPr bwMode="auto">
          <a:xfrm flipH="0" flipV="0">
            <a:off x="1305436" y="4221200"/>
            <a:ext cx="2054810" cy="400803"/>
          </a:xfrm>
          <a:prstGeom prst="flowChartProcess">
            <a:avLst/>
          </a:prstGeom>
          <a:solidFill>
            <a:srgbClr val="3E6DA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ctr">
              <a:defRPr/>
            </a:pPr>
            <a:endParaRPr lang="ru-RU" sz="1800" b="0" i="0" u="none" strike="noStrike" cap="none" spc="0">
              <a:solidFill>
                <a:schemeClr val="lt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metamask</a:t>
            </a:r>
            <a:endParaRPr lang="en-US" sz="1800" b="0" i="0" u="none" strike="noStrike" cap="none" spc="0">
              <a:solidFill>
                <a:schemeClr val="lt1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/>
          </a:p>
        </p:txBody>
      </p:sp>
      <p:sp>
        <p:nvSpPr>
          <p:cNvPr id="1739179037" name=""/>
          <p:cNvSpPr/>
          <p:nvPr/>
        </p:nvSpPr>
        <p:spPr bwMode="auto">
          <a:xfrm flipH="0" flipV="0">
            <a:off x="1304607" y="3404395"/>
            <a:ext cx="2054810" cy="400804"/>
          </a:xfrm>
          <a:prstGeom prst="flowChartProcess">
            <a:avLst/>
          </a:prstGeom>
          <a:solidFill>
            <a:srgbClr val="3E6DA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ctr">
              <a:defRPr/>
            </a:pPr>
            <a:endParaRPr lang="ru-RU" sz="1800" b="0" i="0" u="none" strike="noStrike" cap="none" spc="0">
              <a:solidFill>
                <a:schemeClr val="lt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e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t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h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e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r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s</a:t>
            </a:r>
            <a:endParaRPr lang="ru-RU" sz="1800" b="0" i="0" u="none" strike="noStrike" cap="none" spc="0">
              <a:solidFill>
                <a:schemeClr val="lt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/>
          </a:p>
        </p:txBody>
      </p:sp>
      <p:sp>
        <p:nvSpPr>
          <p:cNvPr id="1652322115" name=""/>
          <p:cNvSpPr/>
          <p:nvPr/>
        </p:nvSpPr>
        <p:spPr bwMode="auto">
          <a:xfrm flipH="0" flipV="0">
            <a:off x="8411753" y="3183510"/>
            <a:ext cx="2932945" cy="1405173"/>
          </a:xfrm>
          <a:prstGeom prst="flowChartProcess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lang="en-US">
                <a:solidFill>
                  <a:schemeClr val="tx1"/>
                </a:solidFill>
              </a:rPr>
              <a:t>Blockchain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24226928" name=""/>
          <p:cNvSpPr/>
          <p:nvPr/>
        </p:nvSpPr>
        <p:spPr bwMode="auto">
          <a:xfrm flipH="0" flipV="0">
            <a:off x="8713896" y="3685695"/>
            <a:ext cx="2328660" cy="844047"/>
          </a:xfrm>
          <a:prstGeom prst="flowChartProcess">
            <a:avLst/>
          </a:prstGeom>
          <a:solidFill>
            <a:srgbClr val="3E6DA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ctr">
              <a:defRPr/>
            </a:pPr>
            <a:endParaRPr lang="en-US"/>
          </a:p>
          <a:p>
            <a:pPr algn="ctr">
              <a:defRPr/>
            </a:pPr>
            <a:r>
              <a:rPr lang="en-US">
                <a:solidFill>
                  <a:schemeClr val="tx1"/>
                </a:solidFill>
              </a:rPr>
              <a:t>Smart Contracts</a:t>
            </a:r>
            <a:endParaRPr>
              <a:solidFill>
                <a:schemeClr val="tx1"/>
              </a:solidFill>
            </a:endParaRPr>
          </a:p>
          <a:p>
            <a:pPr algn="ctr">
              <a:defRPr/>
            </a:pPr>
            <a:endParaRPr lang="en-US"/>
          </a:p>
        </p:txBody>
      </p:sp>
      <p:cxnSp>
        <p:nvCxnSpPr>
          <p:cNvPr id="0" name=""/>
          <p:cNvCxnSpPr>
            <a:cxnSpLocks/>
            <a:stCxn id="1435588490" idx="2"/>
            <a:endCxn id="1739179037" idx="0"/>
          </p:cNvCxnSpPr>
          <p:nvPr/>
        </p:nvCxnSpPr>
        <p:spPr bwMode="auto">
          <a:xfrm rot="5399976" flipH="0" flipV="0">
            <a:off x="2025628" y="3098010"/>
            <a:ext cx="612769" cy="0"/>
          </a:xfrm>
          <a:prstGeom prst="line">
            <a:avLst/>
          </a:prstGeom>
          <a:ln w="38099" cap="flat" cmpd="sng" algn="ctr">
            <a:solidFill>
              <a:srgbClr val="5A8ABD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7538352" name=""/>
          <p:cNvCxnSpPr>
            <a:cxnSpLocks/>
            <a:stCxn id="1739179037" idx="2"/>
            <a:endCxn id="1018226771" idx="0"/>
          </p:cNvCxnSpPr>
          <p:nvPr/>
        </p:nvCxnSpPr>
        <p:spPr bwMode="auto">
          <a:xfrm rot="5399976" flipH="0" flipV="1">
            <a:off x="2124426" y="4013199"/>
            <a:ext cx="416000" cy="0"/>
          </a:xfrm>
          <a:prstGeom prst="line">
            <a:avLst/>
          </a:prstGeom>
          <a:ln w="38099" cap="flat" cmpd="sng" algn="ctr">
            <a:solidFill>
              <a:srgbClr val="5A8ABD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4042707" name=""/>
          <p:cNvCxnSpPr>
            <a:cxnSpLocks/>
            <a:stCxn id="1652322115" idx="1"/>
          </p:cNvCxnSpPr>
          <p:nvPr/>
        </p:nvCxnSpPr>
        <p:spPr bwMode="auto">
          <a:xfrm rot="10799989" flipH="0" flipV="1">
            <a:off x="7081113" y="3886097"/>
            <a:ext cx="1330639" cy="36360"/>
          </a:xfrm>
          <a:prstGeom prst="line">
            <a:avLst/>
          </a:prstGeom>
          <a:ln w="38099" cap="flat" cmpd="sng" algn="ctr">
            <a:solidFill>
              <a:srgbClr val="5A8ABD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892158" name=""/>
          <p:cNvCxnSpPr>
            <a:cxnSpLocks/>
            <a:endCxn id="1018226771" idx="3"/>
          </p:cNvCxnSpPr>
          <p:nvPr/>
        </p:nvCxnSpPr>
        <p:spPr bwMode="auto">
          <a:xfrm rot="10799989" flipH="0" flipV="1">
            <a:off x="3360247" y="3922457"/>
            <a:ext cx="2164365" cy="499143"/>
          </a:xfrm>
          <a:prstGeom prst="line">
            <a:avLst/>
          </a:prstGeom>
          <a:ln w="38099" cap="flat" cmpd="sng" algn="ctr">
            <a:solidFill>
              <a:srgbClr val="5A8ABD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460967" name=""/>
          <p:cNvCxnSpPr>
            <a:cxnSpLocks/>
            <a:endCxn id="1739179037" idx="3"/>
          </p:cNvCxnSpPr>
          <p:nvPr/>
        </p:nvCxnSpPr>
        <p:spPr bwMode="auto">
          <a:xfrm rot="10799989" flipH="0" flipV="0">
            <a:off x="3359418" y="3604797"/>
            <a:ext cx="2165194" cy="317659"/>
          </a:xfrm>
          <a:prstGeom prst="line">
            <a:avLst/>
          </a:prstGeom>
          <a:ln w="38099" cap="flat" cmpd="sng" algn="ctr">
            <a:solidFill>
              <a:srgbClr val="5A8ABD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3211632" name=""/>
          <p:cNvSpPr/>
          <p:nvPr/>
        </p:nvSpPr>
        <p:spPr bwMode="auto">
          <a:xfrm flipH="0" flipV="0">
            <a:off x="5487325" y="3497957"/>
            <a:ext cx="1593786" cy="84900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ctr">
              <a:defRPr/>
            </a:pPr>
            <a:r>
              <a:rPr lang="en-US">
                <a:solidFill>
                  <a:schemeClr val="tx1"/>
                </a:solidFill>
              </a:rPr>
              <a:t>RPC-Provider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rgbClr val="9C98D6"/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256159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ctr">
              <a:defRPr/>
            </a:pPr>
            <a:r>
              <a:rPr lang="ru-RU" sz="3600">
                <a:latin typeface="Times New Roman"/>
                <a:ea typeface="Times New Roman"/>
                <a:cs typeface="Times New Roman"/>
              </a:rPr>
              <a:t>Подробная схема работы модуля авторизации</a:t>
            </a:r>
            <a:endParaRPr sz="3600"/>
          </a:p>
        </p:txBody>
      </p:sp>
      <p:sp>
        <p:nvSpPr>
          <p:cNvPr id="1333497460" name=""/>
          <p:cNvSpPr/>
          <p:nvPr/>
        </p:nvSpPr>
        <p:spPr bwMode="auto">
          <a:xfrm flipH="0" flipV="0">
            <a:off x="926137" y="2421992"/>
            <a:ext cx="2423689" cy="194175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ctr">
              <a:defRPr/>
            </a:pPr>
            <a:r>
              <a:rPr lang="en-US">
                <a:solidFill>
                  <a:schemeClr val="tx1"/>
                </a:solidFill>
              </a:rPr>
              <a:t>С</a:t>
            </a:r>
            <a:r>
              <a:rPr lang="en-US">
                <a:solidFill>
                  <a:schemeClr val="tx1"/>
                </a:solidFill>
              </a:rPr>
              <a:t>lien</a:t>
            </a:r>
            <a:r>
              <a:rPr lang="en-US">
                <a:solidFill>
                  <a:schemeClr val="tx1"/>
                </a:solidFill>
              </a:rPr>
              <a:t>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76513113" name=""/>
          <p:cNvSpPr/>
          <p:nvPr/>
        </p:nvSpPr>
        <p:spPr bwMode="auto">
          <a:xfrm flipH="0" flipV="0">
            <a:off x="2868861" y="2221759"/>
            <a:ext cx="2205145" cy="565418"/>
          </a:xfrm>
          <a:prstGeom prst="flowChartProcess">
            <a:avLst/>
          </a:prstGeom>
          <a:solidFill>
            <a:srgbClr val="3F6B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etamask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162834925" name=""/>
          <p:cNvSpPr/>
          <p:nvPr/>
        </p:nvSpPr>
        <p:spPr bwMode="auto">
          <a:xfrm flipH="0" flipV="0">
            <a:off x="3349826" y="3034021"/>
            <a:ext cx="4545593" cy="311211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93189730" name=""/>
          <p:cNvSpPr/>
          <p:nvPr/>
        </p:nvSpPr>
        <p:spPr bwMode="auto">
          <a:xfrm flipH="0" flipV="0">
            <a:off x="7895420" y="1730939"/>
            <a:ext cx="3913737" cy="4356979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lang="en-US">
                <a:solidFill>
                  <a:schemeClr val="tx1"/>
                </a:solidFill>
              </a:rPr>
              <a:t>Blockchain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93461073" name=""/>
          <p:cNvSpPr/>
          <p:nvPr/>
        </p:nvSpPr>
        <p:spPr bwMode="auto">
          <a:xfrm flipH="0" flipV="0">
            <a:off x="8117041" y="2471248"/>
            <a:ext cx="3470495" cy="3423341"/>
          </a:xfrm>
          <a:prstGeom prst="rect">
            <a:avLst/>
          </a:prstGeom>
          <a:solidFill>
            <a:srgbClr val="3B689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lang="en-US">
                <a:solidFill>
                  <a:schemeClr val="tx1"/>
                </a:solidFill>
              </a:rPr>
              <a:t>Smart contract</a:t>
            </a:r>
            <a:endParaRPr>
              <a:solidFill>
                <a:schemeClr val="tx1"/>
              </a:solidFill>
            </a:endParaRPr>
          </a:p>
          <a:p>
            <a:pPr algn="ctr">
              <a:defRPr/>
            </a:pPr>
            <a:endParaRPr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ru-RU">
                <a:solidFill>
                  <a:schemeClr val="tx1"/>
                </a:solidFill>
              </a:rPr>
              <a:t>Использование адреса для получения информации для пользователя</a:t>
            </a:r>
            <a:r>
              <a:rPr lang="ru-RU">
                <a:solidFill>
                  <a:schemeClr val="tx1"/>
                </a:solidFill>
              </a:rPr>
              <a:t>,</a:t>
            </a:r>
            <a:r>
              <a:rPr lang="ru-RU">
                <a:solidFill>
                  <a:schemeClr val="tx1"/>
                </a:solidFill>
              </a:rPr>
              <a:t> с помощью вызова g</a:t>
            </a:r>
            <a:r>
              <a:rPr lang="ru-RU">
                <a:solidFill>
                  <a:schemeClr val="tx1"/>
                </a:solidFill>
              </a:rPr>
              <a:t>e</a:t>
            </a:r>
            <a:r>
              <a:rPr lang="ru-RU">
                <a:solidFill>
                  <a:schemeClr val="tx1"/>
                </a:solidFill>
              </a:rPr>
              <a:t>t</a:t>
            </a:r>
            <a:r>
              <a:rPr lang="ru-RU">
                <a:solidFill>
                  <a:schemeClr val="tx1"/>
                </a:solidFill>
              </a:rPr>
              <a:t>-функций</a:t>
            </a:r>
            <a:endParaRPr lang="ru-RU">
              <a:solidFill>
                <a:schemeClr val="tx1"/>
              </a:solidFill>
            </a:endParaRPr>
          </a:p>
          <a:p>
            <a:pPr algn="ctr">
              <a:defRPr/>
            </a:pPr>
            <a:endParaRPr>
              <a:solidFill>
                <a:schemeClr val="tx1"/>
              </a:solidFill>
            </a:endParaRPr>
          </a:p>
          <a:p>
            <a:pPr marL="283879" indent="-283879" algn="ctr">
              <a:buFont typeface="Liberation Sans"/>
              <a:buChar char="–"/>
              <a:defRPr/>
            </a:pPr>
            <a:r>
              <a:rPr lang="ru-RU">
                <a:solidFill>
                  <a:schemeClr val="tx1"/>
                </a:solidFill>
              </a:rPr>
              <a:t>Роль пользователя</a:t>
            </a:r>
            <a:endParaRPr lang="ru-RU">
              <a:solidFill>
                <a:schemeClr val="tx1"/>
              </a:solidFill>
            </a:endParaRPr>
          </a:p>
          <a:p>
            <a:pPr marL="283879" indent="-283879" algn="ctr">
              <a:buFont typeface="Liberation Sans"/>
              <a:buChar char="–"/>
              <a:defRPr/>
            </a:pPr>
            <a:r>
              <a:rPr lang="ru-RU">
                <a:solidFill>
                  <a:schemeClr val="tx1"/>
                </a:solidFill>
              </a:rPr>
              <a:t>Баланс токенов</a:t>
            </a:r>
            <a:endParaRPr lang="ru-RU">
              <a:solidFill>
                <a:schemeClr val="tx1"/>
              </a:solidFill>
            </a:endParaRPr>
          </a:p>
          <a:p>
            <a:pPr marL="283879" indent="-283879" algn="ctr">
              <a:buFont typeface="Liberation Sans"/>
              <a:buChar char="–"/>
              <a:defRPr/>
            </a:pPr>
            <a:r>
              <a:rPr lang="ru-RU">
                <a:solidFill>
                  <a:schemeClr val="tx1"/>
                </a:solidFill>
              </a:rPr>
              <a:t>Информация в зависимости от роли</a:t>
            </a:r>
            <a:endParaRPr lang="ru-RU">
              <a:solidFill>
                <a:schemeClr val="tx1"/>
              </a:solidFill>
            </a:endParaRPr>
          </a:p>
          <a:p>
            <a:pPr algn="ctr">
              <a:defRPr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1437951019" name=""/>
          <p:cNvSpPr/>
          <p:nvPr/>
        </p:nvSpPr>
        <p:spPr bwMode="auto">
          <a:xfrm flipH="1" flipV="0">
            <a:off x="3339461" y="3412098"/>
            <a:ext cx="4556845" cy="311211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3085174" name=""/>
          <p:cNvSpPr txBox="1"/>
          <p:nvPr/>
        </p:nvSpPr>
        <p:spPr bwMode="auto">
          <a:xfrm flipH="0" flipV="0">
            <a:off x="5176161" y="2421992"/>
            <a:ext cx="272050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/>
              <a:t>предоставление адреса пользователя</a:t>
            </a:r>
            <a:endParaRPr sz="1800"/>
          </a:p>
        </p:txBody>
      </p:sp>
      <p:sp>
        <p:nvSpPr>
          <p:cNvPr id="487248199" name=""/>
          <p:cNvSpPr txBox="1"/>
          <p:nvPr/>
        </p:nvSpPr>
        <p:spPr bwMode="auto">
          <a:xfrm flipH="0" flipV="0">
            <a:off x="4225654" y="3647864"/>
            <a:ext cx="278666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вывод информации о пользователе</a:t>
            </a:r>
            <a:endParaRPr/>
          </a:p>
        </p:txBody>
      </p:sp>
      <p:sp>
        <p:nvSpPr>
          <p:cNvPr id="1552720338" name=""/>
          <p:cNvSpPr/>
          <p:nvPr/>
        </p:nvSpPr>
        <p:spPr bwMode="auto">
          <a:xfrm flipH="0" flipV="0">
            <a:off x="4743932" y="2787177"/>
            <a:ext cx="330073" cy="301781"/>
          </a:xfrm>
          <a:prstGeom prst="downArrow">
            <a:avLst>
              <a:gd name="adj1" fmla="val 50000"/>
              <a:gd name="adj2" fmla="val 468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rgbClr val="9C98D6"/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98894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sz="3600">
                <a:latin typeface="Times New Roman"/>
                <a:ea typeface="Times New Roman"/>
                <a:cs typeface="Times New Roman"/>
              </a:rPr>
              <a:t>Обоснование использования технологии блокчейн</a:t>
            </a:r>
            <a:endParaRPr sz="3600"/>
          </a:p>
        </p:txBody>
      </p:sp>
      <p:sp>
        <p:nvSpPr>
          <p:cNvPr id="1482694157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Liberation Sans"/>
              <a:buNone/>
              <a:defRPr/>
            </a:pPr>
            <a:endParaRPr sz="2600"/>
          </a:p>
          <a:p>
            <a:pPr>
              <a:buFont typeface="Liberation Sans"/>
              <a:buChar char="–"/>
              <a:defRPr/>
            </a:pPr>
            <a:r>
              <a:rPr sz="2600"/>
              <a:t>Голоса нельзя подделать</a:t>
            </a:r>
            <a:endParaRPr sz="2600"/>
          </a:p>
          <a:p>
            <a:pPr>
              <a:buFont typeface="Liberation Sans"/>
              <a:buChar char="–"/>
              <a:defRPr/>
            </a:pPr>
            <a:endParaRPr sz="2600"/>
          </a:p>
          <a:p>
            <a:pPr>
              <a:buFont typeface="Liberation Sans"/>
              <a:buChar char="–"/>
              <a:defRPr/>
            </a:pPr>
            <a:r>
              <a:rPr sz="2600"/>
              <a:t>Отсутствие посредников</a:t>
            </a:r>
            <a:endParaRPr sz="2600"/>
          </a:p>
          <a:p>
            <a:pPr>
              <a:buFont typeface="Liberation Sans"/>
              <a:buChar char="–"/>
              <a:defRPr/>
            </a:pPr>
            <a:endParaRPr sz="2600"/>
          </a:p>
          <a:p>
            <a:pPr>
              <a:buFont typeface="Liberation Sans"/>
              <a:buChar char="–"/>
              <a:defRPr/>
            </a:pPr>
            <a:r>
              <a:rPr sz="2600"/>
              <a:t>Неизменяемость и прозрачность данных</a:t>
            </a:r>
            <a:endParaRPr sz="2600"/>
          </a:p>
          <a:p>
            <a:pPr>
              <a:buFont typeface="Liberation Sans"/>
              <a:buChar char="–"/>
              <a:defRPr/>
            </a:pPr>
            <a:endParaRPr sz="2600"/>
          </a:p>
          <a:p>
            <a:pPr>
              <a:buFont typeface="Liberation Sans"/>
              <a:buChar char="–"/>
              <a:defRPr/>
            </a:pPr>
            <a:r>
              <a:rPr sz="2600"/>
              <a:t>Система децентрализованная 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rgbClr val="9C98D6"/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86553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sz="3600">
                <a:latin typeface="Times New Roman"/>
                <a:ea typeface="Times New Roman"/>
                <a:cs typeface="Times New Roman"/>
              </a:rPr>
              <a:t>Стек технологий для разработки</a:t>
            </a:r>
            <a:endParaRPr sz="3600"/>
          </a:p>
        </p:txBody>
      </p:sp>
      <p:sp>
        <p:nvSpPr>
          <p:cNvPr id="1994015330" name="Объект 2"/>
          <p:cNvSpPr>
            <a:spLocks noGrp="1"/>
          </p:cNvSpPr>
          <p:nvPr>
            <p:ph idx="1"/>
          </p:nvPr>
        </p:nvSpPr>
        <p:spPr bwMode="auto">
          <a:xfrm>
            <a:off x="838198" y="1837530"/>
            <a:ext cx="1051560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buFont typeface="Liberation Sans"/>
              <a:buChar char="–"/>
              <a:defRPr/>
            </a:pPr>
            <a:r>
              <a:rPr sz="2400"/>
              <a:t> S</a:t>
            </a:r>
            <a:r>
              <a:rPr sz="2400"/>
              <a:t>o</a:t>
            </a:r>
            <a:r>
              <a:rPr sz="2400"/>
              <a:t>l</a:t>
            </a:r>
            <a:r>
              <a:rPr sz="2400"/>
              <a:t>i</a:t>
            </a:r>
            <a:r>
              <a:rPr sz="2400"/>
              <a:t>d</a:t>
            </a:r>
            <a:r>
              <a:rPr sz="2400"/>
              <a:t>i</a:t>
            </a:r>
            <a:r>
              <a:rPr sz="2400"/>
              <a:t>t</a:t>
            </a:r>
            <a:r>
              <a:rPr sz="2400"/>
              <a:t>y</a:t>
            </a:r>
            <a:endParaRPr sz="2400"/>
          </a:p>
          <a:p>
            <a:pPr>
              <a:buFont typeface="Liberation Sans"/>
              <a:buChar char="–"/>
              <a:defRPr/>
            </a:pPr>
            <a:r>
              <a:rPr lang="en-US" sz="2400"/>
              <a:t> </a:t>
            </a:r>
            <a:r>
              <a:rPr lang="en-US" sz="2400"/>
              <a:t>Solhint</a:t>
            </a:r>
            <a:endParaRPr sz="2400"/>
          </a:p>
          <a:p>
            <a:pPr>
              <a:buFont typeface="Liberation Sans"/>
              <a:buChar char="–"/>
              <a:defRPr/>
            </a:pPr>
            <a:r>
              <a:rPr lang="en-US" sz="2400"/>
              <a:t> </a:t>
            </a:r>
            <a:r>
              <a:rPr lang="en-US" sz="2400"/>
              <a:t>Slither</a:t>
            </a:r>
            <a:endParaRPr sz="2400"/>
          </a:p>
          <a:p>
            <a:pPr>
              <a:buFont typeface="Liberation Sans"/>
              <a:buChar char="–"/>
              <a:defRPr/>
            </a:pPr>
            <a:endParaRPr sz="2400"/>
          </a:p>
          <a:p>
            <a:pPr>
              <a:buFont typeface="Liberation Sans"/>
              <a:buChar char="–"/>
              <a:defRPr/>
            </a:pPr>
            <a:r>
              <a:rPr lang="en-US" sz="2400"/>
              <a:t> </a:t>
            </a:r>
            <a:r>
              <a:rPr lang="en-US" sz="2400"/>
              <a:t>React: react-router-dom, react-bootstrap</a:t>
            </a:r>
            <a:endParaRPr sz="2400"/>
          </a:p>
          <a:p>
            <a:pPr>
              <a:buFont typeface="Liberation Sans"/>
              <a:buChar char="–"/>
              <a:defRPr/>
            </a:pPr>
            <a:r>
              <a:rPr lang="en-US" sz="2400"/>
              <a:t> </a:t>
            </a:r>
            <a:r>
              <a:rPr lang="en-US" sz="2400"/>
              <a:t>Tailwind</a:t>
            </a:r>
            <a:endParaRPr sz="2400"/>
          </a:p>
          <a:p>
            <a:pPr>
              <a:buFont typeface="Liberation Sans"/>
              <a:buChar char="–"/>
              <a:defRPr/>
            </a:pPr>
            <a:r>
              <a:rPr lang="en-US" sz="2400"/>
              <a:t> </a:t>
            </a:r>
            <a:r>
              <a:rPr lang="en-US" sz="2400"/>
              <a:t>Ethers</a:t>
            </a:r>
            <a:endParaRPr sz="2400"/>
          </a:p>
          <a:p>
            <a:pPr>
              <a:buFont typeface="Liberation Sans"/>
              <a:buChar char="–"/>
              <a:defRPr/>
            </a:pPr>
            <a:endParaRPr sz="2400"/>
          </a:p>
          <a:p>
            <a:pPr>
              <a:buFont typeface="Liberation Sans"/>
              <a:buChar char="–"/>
              <a:defRPr/>
            </a:pPr>
            <a:r>
              <a:rPr lang="en-US" sz="2400"/>
              <a:t> </a:t>
            </a:r>
            <a:r>
              <a:rPr lang="en-US" sz="2400"/>
              <a:t>Hardhat</a:t>
            </a:r>
            <a:endParaRPr sz="2400"/>
          </a:p>
          <a:p>
            <a:pPr>
              <a:buFont typeface="Liberation Sans"/>
              <a:buChar char="–"/>
              <a:defRPr/>
            </a:pPr>
            <a:r>
              <a:rPr lang="en-US" sz="2400"/>
              <a:t> </a:t>
            </a:r>
            <a:r>
              <a:rPr lang="en-US" sz="2400"/>
              <a:t>JavaScript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rgbClr val="9C98D6"/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62622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sz="3600">
                <a:latin typeface="Times New Roman"/>
                <a:ea typeface="Times New Roman"/>
                <a:cs typeface="Times New Roman"/>
              </a:rPr>
              <a:t>Графический интерфейс решения</a:t>
            </a:r>
            <a:endParaRPr sz="3600"/>
          </a:p>
        </p:txBody>
      </p:sp>
      <p:pic>
        <p:nvPicPr>
          <p:cNvPr id="1477897737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94206" y="2320846"/>
            <a:ext cx="5307213" cy="3084669"/>
          </a:xfrm>
          <a:prstGeom prst="rect">
            <a:avLst/>
          </a:prstGeom>
        </p:spPr>
      </p:pic>
      <p:pic>
        <p:nvPicPr>
          <p:cNvPr id="588353960" name=""/>
          <p:cNvPicPr>
            <a:picLocks noChangeAspect="1"/>
          </p:cNvPicPr>
          <p:nvPr/>
        </p:nvPicPr>
        <p:blipFill>
          <a:blip r:embed="rId3"/>
          <a:srcRect l="17076" t="9478" r="0" b="0"/>
          <a:stretch/>
        </p:blipFill>
        <p:spPr bwMode="auto">
          <a:xfrm flipH="0" flipV="0">
            <a:off x="5606970" y="2100959"/>
            <a:ext cx="6493075" cy="35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rgbClr val="9C98D6"/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86713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sz="3600">
                <a:latin typeface="Times New Roman"/>
                <a:ea typeface="Times New Roman"/>
                <a:cs typeface="Times New Roman"/>
              </a:rPr>
              <a:t>Возможные уязвимости и недостатки проекта</a:t>
            </a:r>
            <a:endParaRPr sz="3600"/>
          </a:p>
        </p:txBody>
      </p:sp>
      <p:sp>
        <p:nvSpPr>
          <p:cNvPr id="1186471392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562445" y="1883121"/>
            <a:ext cx="10972800" cy="414821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buFont typeface="Liberation Sans"/>
              <a:buChar char="–"/>
              <a:defRPr/>
            </a:pPr>
            <a:r>
              <a:rPr sz="2400">
                <a:solidFill>
                  <a:schemeClr val="tx1"/>
                </a:solidFill>
              </a:rPr>
              <a:t> Нет условия на минимальное количество проголосовавших</a:t>
            </a:r>
            <a:endParaRPr sz="2400">
              <a:solidFill>
                <a:schemeClr val="tx1"/>
              </a:solidFill>
            </a:endParaRPr>
          </a:p>
          <a:p>
            <a:pPr>
              <a:buFont typeface="Liberation Sans"/>
              <a:buChar char="–"/>
              <a:defRPr/>
            </a:pPr>
            <a:r>
              <a:rPr sz="2400">
                <a:solidFill>
                  <a:schemeClr val="tx1"/>
                </a:solidFill>
              </a:rPr>
              <a:t> Отсутствует ограничение на создание голосования</a:t>
            </a:r>
            <a:endParaRPr sz="2400">
              <a:solidFill>
                <a:schemeClr val="tx1"/>
              </a:solidFill>
            </a:endParaRPr>
          </a:p>
          <a:p>
            <a:pPr>
              <a:buFont typeface="Liberation Sans"/>
              <a:buChar char="–"/>
              <a:defRPr/>
            </a:pPr>
            <a:r>
              <a:rPr sz="2400">
                <a:solidFill>
                  <a:schemeClr val="tx1"/>
                </a:solidFill>
              </a:rPr>
              <a:t> Нет ограничений на голосований на одну тематику</a:t>
            </a:r>
            <a:endParaRPr sz="2400">
              <a:solidFill>
                <a:schemeClr val="tx1"/>
              </a:solidFill>
            </a:endParaRPr>
          </a:p>
          <a:p>
            <a:pPr marL="0" indent="0">
              <a:buFont typeface="Liberation Sans"/>
              <a:buNone/>
              <a:defRPr/>
            </a:pPr>
            <a:endParaRPr sz="2400">
              <a:solidFill>
                <a:schemeClr val="tx1"/>
              </a:solidFill>
            </a:endParaRPr>
          </a:p>
          <a:p>
            <a:pPr marL="0" indent="0">
              <a:buFont typeface="Liberation Sans"/>
              <a:buNone/>
              <a:defRPr/>
            </a:pPr>
            <a:endParaRPr sz="2400">
              <a:solidFill>
                <a:schemeClr val="tx1"/>
              </a:solidFill>
            </a:endParaRPr>
          </a:p>
          <a:p>
            <a:pPr>
              <a:buFont typeface="Liberation Sans"/>
              <a:buChar char="–"/>
              <a:defRPr/>
            </a:pPr>
            <a:r>
              <a:rPr lang="ru-RU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Пользователи с большим объемом токенов имеют преимущество</a:t>
            </a:r>
            <a:endParaRPr sz="2400">
              <a:solidFill>
                <a:schemeClr val="tx1"/>
              </a:solidFill>
            </a:endParaRPr>
          </a:p>
          <a:p>
            <a:pPr>
              <a:buFont typeface="Liberation Sans"/>
              <a:buChar char="–"/>
              <a:defRPr/>
            </a:pPr>
            <a:r>
              <a:rPr sz="2400">
                <a:solidFill>
                  <a:schemeClr val="tx1"/>
                </a:solidFill>
              </a:rPr>
              <a:t> Нет разделений роли между инициаторами и </a:t>
            </a:r>
            <a:r>
              <a:rPr sz="2400">
                <a:solidFill>
                  <a:schemeClr val="tx1"/>
                </a:solidFill>
              </a:rPr>
              <a:t>голосующими</a:t>
            </a:r>
            <a:endParaRPr sz="2400">
              <a:solidFill>
                <a:schemeClr val="tx1"/>
              </a:solidFill>
            </a:endParaRPr>
          </a:p>
          <a:p>
            <a:pPr>
              <a:buFont typeface="Liberation Sans"/>
              <a:buChar char="–"/>
              <a:defRPr/>
            </a:pPr>
            <a:r>
              <a:rPr sz="2400">
                <a:solidFill>
                  <a:schemeClr val="tx1"/>
                </a:solidFill>
              </a:rPr>
              <a:t> Централизация власти вокруг инициатора голосования</a:t>
            </a:r>
            <a:endParaRPr sz="24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rgbClr val="9C98D6"/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55341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sz="3600">
                <a:latin typeface="Times New Roman"/>
                <a:ea typeface="Times New Roman"/>
                <a:cs typeface="Times New Roman"/>
              </a:rPr>
              <a:t>План дальнейшего развития проекта</a:t>
            </a:r>
            <a:endParaRPr sz="3600"/>
          </a:p>
        </p:txBody>
      </p:sp>
      <p:sp>
        <p:nvSpPr>
          <p:cNvPr id="1836948476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Liberation Sans"/>
              <a:buNone/>
              <a:defRPr/>
            </a:pPr>
            <a:endParaRPr lang="ru-RU" sz="2400"/>
          </a:p>
          <a:p>
            <a:pPr>
              <a:buFont typeface="Liberation Sans"/>
              <a:buChar char="–"/>
              <a:defRPr/>
            </a:pPr>
            <a:r>
              <a:rPr lang="ru-RU" sz="2400"/>
              <a:t> Проксирование контракта</a:t>
            </a:r>
            <a:endParaRPr lang="ru-RU" sz="2400"/>
          </a:p>
          <a:p>
            <a:pPr>
              <a:buFont typeface="Liberation Sans"/>
              <a:buChar char="–"/>
              <a:defRPr/>
            </a:pPr>
            <a:endParaRPr sz="2400"/>
          </a:p>
          <a:p>
            <a:pPr>
              <a:buFont typeface="Liberation Sans"/>
              <a:buChar char="–"/>
              <a:defRPr/>
            </a:pPr>
            <a:r>
              <a:rPr lang="ru-RU" sz="2400"/>
              <a:t> Ограничение количества голосов и голосующих</a:t>
            </a:r>
            <a:endParaRPr sz="2400"/>
          </a:p>
          <a:p>
            <a:pPr marL="0" indent="0">
              <a:buFont typeface="Liberation Sans"/>
              <a:buNone/>
              <a:defRPr/>
            </a:pPr>
            <a:endParaRPr sz="2400"/>
          </a:p>
          <a:p>
            <a:pPr>
              <a:buFont typeface="Liberation Sans"/>
              <a:buChar char="–"/>
              <a:defRPr/>
            </a:pPr>
            <a:r>
              <a:rPr sz="2400"/>
              <a:t> Создание адаптивного интерфейса</a:t>
            </a:r>
            <a:endParaRPr sz="2400"/>
          </a:p>
          <a:p>
            <a:pPr>
              <a:buFont typeface="Liberation Sans"/>
              <a:buChar char="–"/>
              <a:defRPr/>
            </a:pPr>
            <a:endParaRPr sz="2400"/>
          </a:p>
          <a:p>
            <a:pPr>
              <a:buFont typeface="Liberation Sans"/>
              <a:buChar char="–"/>
              <a:defRPr/>
            </a:pPr>
            <a:r>
              <a:rPr sz="2400"/>
              <a:t> Внедрение</a:t>
            </a:r>
            <a:r>
              <a:rPr sz="2400"/>
              <a:t> </a:t>
            </a:r>
            <a:r>
              <a:rPr sz="2400"/>
              <a:t>R</a:t>
            </a:r>
            <a:r>
              <a:rPr sz="2400"/>
              <a:t>e</a:t>
            </a:r>
            <a:r>
              <a:rPr sz="2400"/>
              <a:t>l</a:t>
            </a:r>
            <a:r>
              <a:rPr sz="2400"/>
              <a:t>a</a:t>
            </a:r>
            <a:r>
              <a:rPr sz="2400"/>
              <a:t>y</a:t>
            </a:r>
            <a:r>
              <a:rPr sz="2400"/>
              <a:t>e</a:t>
            </a:r>
            <a:r>
              <a:rPr sz="2400"/>
              <a:t>r</a:t>
            </a:r>
            <a:r>
              <a:rPr sz="2400"/>
              <a:t>,</a:t>
            </a:r>
            <a:r>
              <a:rPr sz="2400"/>
              <a:t> </a:t>
            </a:r>
            <a:r>
              <a:rPr sz="2400"/>
              <a:t>T</a:t>
            </a:r>
            <a:r>
              <a:rPr sz="2400"/>
              <a:t>h</a:t>
            </a:r>
            <a:r>
              <a:rPr sz="2400"/>
              <a:t>e</a:t>
            </a:r>
            <a:r>
              <a:rPr sz="2400"/>
              <a:t>M</a:t>
            </a:r>
            <a:r>
              <a:rPr sz="2400"/>
              <a:t>o</a:t>
            </a:r>
            <a:r>
              <a:rPr sz="2400"/>
              <a:t>n</a:t>
            </a:r>
            <a:r>
              <a:rPr sz="2400"/>
              <a:t>i</a:t>
            </a:r>
            <a:r>
              <a:rPr sz="2400"/>
              <a:t>t</a:t>
            </a:r>
            <a:r>
              <a:rPr sz="2400"/>
              <a:t>o</a:t>
            </a:r>
            <a:r>
              <a:rPr sz="2400"/>
              <a:t>r</a:t>
            </a:r>
            <a:endParaRPr sz="2400"/>
          </a:p>
          <a:p>
            <a:pPr>
              <a:buFont typeface="Liberation Sans"/>
              <a:buChar char="–"/>
              <a:defRPr/>
            </a:pPr>
            <a:endParaRPr sz="2400"/>
          </a:p>
          <a:p>
            <a:pPr>
              <a:buFont typeface="Liberation Sans"/>
              <a:buChar char="–"/>
              <a:defRPr/>
            </a:pPr>
            <a:r>
              <a:rPr lang="en-US" sz="2400"/>
              <a:t> </a:t>
            </a:r>
            <a:r>
              <a:rPr lang="en-US" sz="2400"/>
              <a:t>Д</a:t>
            </a:r>
            <a:r>
              <a:rPr lang="en-US" sz="2400"/>
              <a:t>о</a:t>
            </a:r>
            <a:r>
              <a:rPr lang="en-US" sz="2400"/>
              <a:t>б</a:t>
            </a:r>
            <a:r>
              <a:rPr lang="en-US" sz="2400"/>
              <a:t>а</a:t>
            </a:r>
            <a:r>
              <a:rPr lang="en-US" sz="2400"/>
              <a:t>в</a:t>
            </a:r>
            <a:r>
              <a:rPr lang="en-US" sz="2400"/>
              <a:t>л</a:t>
            </a:r>
            <a:r>
              <a:rPr lang="en-US" sz="2400"/>
              <a:t>е</a:t>
            </a:r>
            <a:r>
              <a:rPr lang="en-US" sz="2400"/>
              <a:t>н</a:t>
            </a:r>
            <a:r>
              <a:rPr lang="en-US" sz="2400"/>
              <a:t>и</a:t>
            </a:r>
            <a:r>
              <a:rPr lang="en-US" sz="2400"/>
              <a:t>е</a:t>
            </a:r>
            <a:r>
              <a:rPr lang="en-US" sz="2400"/>
              <a:t> </a:t>
            </a:r>
            <a:r>
              <a:rPr lang="en-US" sz="2400"/>
              <a:t>Goldsky</a:t>
            </a:r>
            <a:endParaRPr sz="2400"/>
          </a:p>
          <a:p>
            <a:pPr>
              <a:buFont typeface="Liberation Sans"/>
              <a:buChar char="–"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rgbClr val="9C98D6"/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62536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sz="3600">
                <a:latin typeface="Times New Roman"/>
                <a:ea typeface="Times New Roman"/>
                <a:cs typeface="Times New Roman"/>
              </a:rPr>
              <a:t>План коммерциализации проекта</a:t>
            </a:r>
            <a:endParaRPr sz="3600"/>
          </a:p>
        </p:txBody>
      </p:sp>
      <p:sp>
        <p:nvSpPr>
          <p:cNvPr id="1640316921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buFont typeface="Liberation Sans"/>
              <a:buChar char="–"/>
              <a:defRPr/>
            </a:pPr>
            <a:endParaRPr sz="2400"/>
          </a:p>
          <a:p>
            <a:pPr>
              <a:buFont typeface="Liberation Sans"/>
              <a:buChar char="–"/>
              <a:defRPr/>
            </a:pPr>
            <a:endParaRPr sz="2400"/>
          </a:p>
          <a:p>
            <a:pPr>
              <a:buFont typeface="Liberation Sans"/>
              <a:buChar char="–"/>
              <a:defRPr/>
            </a:pPr>
            <a:r>
              <a:rPr sz="2400"/>
              <a:t> Премиальные функции интерфейса</a:t>
            </a:r>
            <a:endParaRPr sz="2400"/>
          </a:p>
          <a:p>
            <a:pPr>
              <a:buFont typeface="Liberation Sans"/>
              <a:buChar char="–"/>
              <a:defRPr/>
            </a:pPr>
            <a:endParaRPr sz="2400"/>
          </a:p>
          <a:p>
            <a:pPr>
              <a:buFont typeface="Liberation Sans"/>
              <a:buChar char="–"/>
              <a:defRPr/>
            </a:pPr>
            <a:r>
              <a:rPr sz="2400"/>
              <a:t> Покупка токенов </a:t>
            </a:r>
            <a:r>
              <a:rPr sz="2400"/>
              <a:t>для голосования</a:t>
            </a:r>
            <a:endParaRPr lang="ru-RU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Liberation Sans"/>
              <a:buChar char="–"/>
              <a:defRPr/>
            </a:pPr>
            <a:endParaRPr sz="2400"/>
          </a:p>
          <a:p>
            <a:pPr>
              <a:buFont typeface="Liberation Sans"/>
              <a:buChar char="–"/>
              <a:defRPr/>
            </a:pPr>
            <a:r>
              <a:rPr lang="ru-RU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Создание собственных организаций</a:t>
            </a:r>
            <a:endParaRPr sz="2400"/>
          </a:p>
          <a:p>
            <a:pPr>
              <a:buFont typeface="Liberation Sans"/>
              <a:buChar char="–"/>
              <a:defRPr/>
            </a:pPr>
            <a:endParaRPr sz="2400"/>
          </a:p>
          <a:p>
            <a:pPr>
              <a:buFont typeface="Liberation Sans"/>
              <a:buChar char="–"/>
              <a:defRPr/>
            </a:pP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rgbClr val="9C98D6"/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843380" name="Заголовок 1"/>
          <p:cNvSpPr>
            <a:spLocks noGrp="1"/>
          </p:cNvSpPr>
          <p:nvPr>
            <p:ph type="title"/>
          </p:nvPr>
        </p:nvSpPr>
        <p:spPr bwMode="auto">
          <a:xfrm>
            <a:off x="656752" y="2575726"/>
            <a:ext cx="10972800" cy="1143000"/>
          </a:xfrm>
        </p:spPr>
        <p:txBody>
          <a:bodyPr/>
          <a:lstStyle/>
          <a:p>
            <a:pPr algn="ctr">
              <a:defRPr/>
            </a:pPr>
            <a:r>
              <a:rPr/>
              <a:t>Спасибо за внимание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Liberation Sans"/>
        <a:ea typeface="Liberation Sans"/>
        <a:cs typeface="Liberation Sans"/>
      </a:majorFont>
      <a:minorFont>
        <a:latin typeface="Liberation Sans"/>
        <a:ea typeface="Liberation Sans"/>
        <a:cs typeface="Liberation Sans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Р7-Офис/2025.4.1.1604</Application>
  <DocSecurity>0</DocSecurity>
  <PresentationFormat>Widescreen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>User1.11</cp:lastModifiedBy>
  <cp:revision>9</cp:revision>
  <dcterms:modified xsi:type="dcterms:W3CDTF">2026-10-27T12:40:39Z</dcterms:modified>
  <cp:category/>
  <cp:contentStatus/>
  <cp:version/>
</cp:coreProperties>
</file>